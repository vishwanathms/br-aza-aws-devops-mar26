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9" r:id="rId4"/>
    <p:sldId id="266" r:id="rId5"/>
    <p:sldId id="257" r:id="rId6"/>
    <p:sldId id="260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D9BEA6-CF16-485B-9B67-C613877B7ABE}">
          <p14:sldIdLst>
            <p14:sldId id="256"/>
            <p14:sldId id="259"/>
            <p14:sldId id="266"/>
            <p14:sldId id="257"/>
            <p14:sldId id="260"/>
            <p14:sldId id="263"/>
            <p14:sldId id="264"/>
            <p14:sldId id="265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008" autoAdjust="0"/>
  </p:normalViewPr>
  <p:slideViewPr>
    <p:cSldViewPr snapToGrid="0">
      <p:cViewPr varScale="1">
        <p:scale>
          <a:sx n="92" d="100"/>
          <a:sy n="92" d="100"/>
        </p:scale>
        <p:origin x="67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13C94-94BA-419B-BA8F-B470F2B656FD}" type="datetimeFigureOut">
              <a:rPr lang="en-IN" smtClean="0"/>
              <a:t>31-05-2020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2BF19-37DD-4316-85DB-9BA52B2625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6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64144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Vishwanath M S</a:t>
            </a:r>
          </a:p>
          <a:p>
            <a:r>
              <a:rPr lang="en-US" dirty="0"/>
              <a:t>Vishwacloudlab.org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968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1358" y="5985653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C9257-CC87-46B1-82BE-F6765CD63B1A}"/>
              </a:ext>
            </a:extLst>
          </p:cNvPr>
          <p:cNvSpPr txBox="1"/>
          <p:nvPr userDrawn="1"/>
        </p:nvSpPr>
        <p:spPr>
          <a:xfrm>
            <a:off x="0" y="6488458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Engravers MT" panose="02090707080505020304" pitchFamily="18" charset="0"/>
              </a:rPr>
              <a:t>DEVOPS - Kubernetes</a:t>
            </a:r>
          </a:p>
        </p:txBody>
      </p:sp>
      <p:pic>
        <p:nvPicPr>
          <p:cNvPr id="1026" name="Picture 2" descr="Kubernetes - Wikipedia">
            <a:extLst>
              <a:ext uri="{FF2B5EF4-FFF2-40B4-BE49-F238E27FC236}">
                <a16:creationId xmlns:a16="http://schemas.microsoft.com/office/drawing/2014/main" id="{12A19D46-E3E1-49B4-8C70-842807C580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5268" y="46580"/>
            <a:ext cx="919286" cy="89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430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815" y="5936522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344724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17503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247208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346678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842622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021EC1-E4B6-4332-AEF1-C7424A16BC98}" type="slidenum">
              <a:rPr lang="en-US" smtClean="0">
                <a:solidFill>
                  <a:srgbClr val="46464A"/>
                </a:solidFill>
              </a:rPr>
              <a:pPr/>
              <a:t>‹#›</a:t>
            </a:fld>
            <a:endParaRPr lang="en-US">
              <a:solidFill>
                <a:srgbClr val="46464A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97193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218962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010007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83495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51DDC-3D8E-441D-8B1E-684C450C1B0A}" type="datetimeFigureOut">
              <a:rPr lang="en-US" smtClean="0"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</a:schemeClr>
            </a:gs>
            <a:gs pos="9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03344B-D0D9-437D-8838-1FD1C4F164B7}" type="datetimeFigureOut">
              <a:rPr lang="en-US" smtClean="0"/>
              <a:pPr/>
              <a:t>5/31/2020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4058" y="609466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6000" b="1" dirty="0"/>
              <a:t>Kubernetes </a:t>
            </a:r>
            <a:r>
              <a:rPr lang="en-US" sz="6000" b="1" dirty="0" err="1"/>
              <a:t>RelicaSet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83000"/>
            <a:ext cx="10058400" cy="191562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VishwanaTH</a:t>
            </a:r>
            <a:r>
              <a:rPr lang="en-US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m s</a:t>
            </a:r>
          </a:p>
          <a:p>
            <a:r>
              <a:rPr lang="en-US" b="1">
                <a:solidFill>
                  <a:srgbClr val="0070C0"/>
                </a:solidFill>
                <a:latin typeface="Arial Rounded MT Bold" panose="020F0704030504030204" pitchFamily="34" charset="0"/>
              </a:rPr>
              <a:t>VISHWACLOUDLAB.com</a:t>
            </a:r>
            <a:endParaRPr lang="en-US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8C78-AAAF-49D8-A70F-E25CF6C9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93D98-D56F-4CEC-B75B-5F28E9DCBD6D}"/>
              </a:ext>
            </a:extLst>
          </p:cNvPr>
          <p:cNvSpPr txBox="1"/>
          <p:nvPr/>
        </p:nvSpPr>
        <p:spPr>
          <a:xfrm>
            <a:off x="710507" y="1489132"/>
            <a:ext cx="107709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Kubernetes 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Overview – </a:t>
            </a:r>
            <a:r>
              <a:rPr lang="en-US" sz="3200" dirty="0" err="1"/>
              <a:t>ReplicaSet</a:t>
            </a: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Labels &amp; Selectors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Equality-based and Set-based Selectors</a:t>
            </a:r>
          </a:p>
        </p:txBody>
      </p:sp>
    </p:spTree>
    <p:extLst>
      <p:ext uri="{BB962C8B-B14F-4D97-AF65-F5344CB8AC3E}">
        <p14:creationId xmlns:p14="http://schemas.microsoft.com/office/powerpoint/2010/main" val="28908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4B814-1E85-4CF9-BD70-D40ACDEB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Kubernetes Working</a:t>
            </a:r>
            <a:endParaRPr lang="en-GB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6B4389-A157-4C6D-9BD9-D1D60E128267}"/>
              </a:ext>
            </a:extLst>
          </p:cNvPr>
          <p:cNvSpPr/>
          <p:nvPr/>
        </p:nvSpPr>
        <p:spPr>
          <a:xfrm>
            <a:off x="3728852" y="1579418"/>
            <a:ext cx="4156364" cy="173379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0CCDF7-2461-465E-BFBE-95959D131CC2}"/>
              </a:ext>
            </a:extLst>
          </p:cNvPr>
          <p:cNvSpPr/>
          <p:nvPr/>
        </p:nvSpPr>
        <p:spPr>
          <a:xfrm>
            <a:off x="4132613" y="1733797"/>
            <a:ext cx="3360717" cy="3681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Kube-apiserver</a:t>
            </a:r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52696-AE55-4B40-9F5A-883E6204DDAB}"/>
              </a:ext>
            </a:extLst>
          </p:cNvPr>
          <p:cNvSpPr/>
          <p:nvPr/>
        </p:nvSpPr>
        <p:spPr>
          <a:xfrm>
            <a:off x="5312668" y="1210086"/>
            <a:ext cx="988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MASTER</a:t>
            </a:r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8CFC57-E1EE-434E-98B3-B8DB43964C0F}"/>
              </a:ext>
            </a:extLst>
          </p:cNvPr>
          <p:cNvSpPr/>
          <p:nvPr/>
        </p:nvSpPr>
        <p:spPr>
          <a:xfrm>
            <a:off x="306779" y="4154384"/>
            <a:ext cx="2673927" cy="17337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F148D2-4989-4449-B65B-D7C224ED12CC}"/>
              </a:ext>
            </a:extLst>
          </p:cNvPr>
          <p:cNvSpPr/>
          <p:nvPr/>
        </p:nvSpPr>
        <p:spPr>
          <a:xfrm>
            <a:off x="4346363" y="4154384"/>
            <a:ext cx="2673927" cy="17337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F7EF16-4007-43EA-8E72-8F44F45CEB37}"/>
              </a:ext>
            </a:extLst>
          </p:cNvPr>
          <p:cNvSpPr/>
          <p:nvPr/>
        </p:nvSpPr>
        <p:spPr>
          <a:xfrm>
            <a:off x="8379470" y="4160322"/>
            <a:ext cx="2673927" cy="17337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D6FEC9-3315-43CB-B449-B674CA1A8B1D}"/>
              </a:ext>
            </a:extLst>
          </p:cNvPr>
          <p:cNvSpPr/>
          <p:nvPr/>
        </p:nvSpPr>
        <p:spPr>
          <a:xfrm>
            <a:off x="938865" y="5888182"/>
            <a:ext cx="886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Node-1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5EFE7C-3A35-4540-8F82-321AD55E985B}"/>
              </a:ext>
            </a:extLst>
          </p:cNvPr>
          <p:cNvSpPr/>
          <p:nvPr/>
        </p:nvSpPr>
        <p:spPr>
          <a:xfrm>
            <a:off x="5239935" y="5888182"/>
            <a:ext cx="886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Node-2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C24B51-FB0E-4C44-A61A-4B89BD5D5822}"/>
              </a:ext>
            </a:extLst>
          </p:cNvPr>
          <p:cNvSpPr/>
          <p:nvPr/>
        </p:nvSpPr>
        <p:spPr>
          <a:xfrm>
            <a:off x="9563688" y="5888182"/>
            <a:ext cx="886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Node-3</a:t>
            </a:r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26F5D9-C979-4662-9D4C-B637A889F851}"/>
              </a:ext>
            </a:extLst>
          </p:cNvPr>
          <p:cNvSpPr/>
          <p:nvPr/>
        </p:nvSpPr>
        <p:spPr>
          <a:xfrm>
            <a:off x="306779" y="4362202"/>
            <a:ext cx="1175657" cy="5086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Docker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EE9AFA-D0D2-4505-A4B0-91151C73CF97}"/>
              </a:ext>
            </a:extLst>
          </p:cNvPr>
          <p:cNvSpPr/>
          <p:nvPr/>
        </p:nvSpPr>
        <p:spPr>
          <a:xfrm>
            <a:off x="4350761" y="4362202"/>
            <a:ext cx="1175657" cy="5086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Docker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202D81-1D7D-4097-969C-EA645B7FEB75}"/>
              </a:ext>
            </a:extLst>
          </p:cNvPr>
          <p:cNvSpPr/>
          <p:nvPr/>
        </p:nvSpPr>
        <p:spPr>
          <a:xfrm>
            <a:off x="8379470" y="4362202"/>
            <a:ext cx="1175657" cy="5086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Docker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383287-DB5B-4646-A946-188DE978488B}"/>
              </a:ext>
            </a:extLst>
          </p:cNvPr>
          <p:cNvSpPr/>
          <p:nvPr/>
        </p:nvSpPr>
        <p:spPr>
          <a:xfrm>
            <a:off x="446936" y="1733797"/>
            <a:ext cx="1378709" cy="14032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Deployment File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Says: How many copies to run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7B068B7-2201-405F-A223-C6E9CA893F92}"/>
              </a:ext>
            </a:extLst>
          </p:cNvPr>
          <p:cNvSpPr/>
          <p:nvPr/>
        </p:nvSpPr>
        <p:spPr>
          <a:xfrm>
            <a:off x="2078182" y="2168624"/>
            <a:ext cx="1520041" cy="5349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C57D0CD-6D4A-4C45-8CA4-A2D05759FF09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 flipV="1">
            <a:off x="1643744" y="3720934"/>
            <a:ext cx="2909893" cy="43344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794EF0E-CD81-427A-A4DC-3E78A55ABDC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923314" y="3720934"/>
            <a:ext cx="2793120" cy="43938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0BA7E8D-F72D-4938-A8F1-3B700C542231}"/>
              </a:ext>
            </a:extLst>
          </p:cNvPr>
          <p:cNvCxnSpPr/>
          <p:nvPr/>
        </p:nvCxnSpPr>
        <p:spPr>
          <a:xfrm>
            <a:off x="4553637" y="3313216"/>
            <a:ext cx="0" cy="4077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D2E4B0-B67B-44E1-B321-FD5C615F155D}"/>
              </a:ext>
            </a:extLst>
          </p:cNvPr>
          <p:cNvCxnSpPr/>
          <p:nvPr/>
        </p:nvCxnSpPr>
        <p:spPr>
          <a:xfrm>
            <a:off x="6923314" y="3313216"/>
            <a:ext cx="0" cy="4077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5BC05FD-1F59-4965-9EDB-8607404D110B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5400000">
            <a:off x="5324597" y="3671947"/>
            <a:ext cx="841168" cy="123707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395111D-5219-452A-A11F-01584CF27B07}"/>
              </a:ext>
            </a:extLst>
          </p:cNvPr>
          <p:cNvSpPr/>
          <p:nvPr/>
        </p:nvSpPr>
        <p:spPr>
          <a:xfrm>
            <a:off x="4132612" y="2252354"/>
            <a:ext cx="30400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Image Names:        </a:t>
            </a:r>
            <a:r>
              <a:rPr lang="en-US" b="1" dirty="0">
                <a:solidFill>
                  <a:srgbClr val="0070C0"/>
                </a:solidFill>
              </a:rPr>
              <a:t>tomcat</a:t>
            </a:r>
          </a:p>
          <a:p>
            <a:r>
              <a:rPr lang="en-US" b="1" dirty="0"/>
              <a:t># of POD need:       </a:t>
            </a:r>
            <a:r>
              <a:rPr lang="en-US" b="1" dirty="0">
                <a:solidFill>
                  <a:srgbClr val="0070C0"/>
                </a:solidFill>
              </a:rPr>
              <a:t>4</a:t>
            </a:r>
          </a:p>
          <a:p>
            <a:r>
              <a:rPr lang="en-US" b="1" dirty="0"/>
              <a:t># of POD running:  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r>
              <a:rPr lang="en-US" b="1" dirty="0"/>
              <a:t> </a:t>
            </a:r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0FDC2B-AA79-4654-B450-3F6723D67324}"/>
              </a:ext>
            </a:extLst>
          </p:cNvPr>
          <p:cNvSpPr/>
          <p:nvPr/>
        </p:nvSpPr>
        <p:spPr>
          <a:xfrm>
            <a:off x="446936" y="5142016"/>
            <a:ext cx="1631246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POD-1-R1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6CCBF37-18FC-4ADE-8FD9-5C079BB3233F}"/>
              </a:ext>
            </a:extLst>
          </p:cNvPr>
          <p:cNvSpPr/>
          <p:nvPr/>
        </p:nvSpPr>
        <p:spPr>
          <a:xfrm>
            <a:off x="4473474" y="5142016"/>
            <a:ext cx="1631246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POD-1-R2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82A803B-228A-45A5-89E3-0646B5B709C9}"/>
              </a:ext>
            </a:extLst>
          </p:cNvPr>
          <p:cNvSpPr/>
          <p:nvPr/>
        </p:nvSpPr>
        <p:spPr>
          <a:xfrm>
            <a:off x="8592232" y="5142016"/>
            <a:ext cx="1631246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POD-1-R3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91BB5AC-9C14-4A6D-8B3D-907721F9B8ED}"/>
              </a:ext>
            </a:extLst>
          </p:cNvPr>
          <p:cNvSpPr/>
          <p:nvPr/>
        </p:nvSpPr>
        <p:spPr>
          <a:xfrm>
            <a:off x="1415177" y="4699660"/>
            <a:ext cx="1569927" cy="50866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POD-1-R4</a:t>
            </a:r>
            <a:endParaRPr lang="en-GB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84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/>
      <p:bldP spid="11" grpId="0"/>
      <p:bldP spid="12" grpId="0"/>
      <p:bldP spid="3" grpId="0" animBg="1"/>
      <p:bldP spid="13" grpId="0" animBg="1"/>
      <p:bldP spid="14" grpId="0" animBg="1"/>
      <p:bldP spid="15" grpId="0" animBg="1"/>
      <p:bldP spid="16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 err="1"/>
              <a:t>ReplicaSet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FEA80-FB39-4986-8190-070B230C0EE3}"/>
              </a:ext>
            </a:extLst>
          </p:cNvPr>
          <p:cNvSpPr txBox="1"/>
          <p:nvPr/>
        </p:nvSpPr>
        <p:spPr>
          <a:xfrm>
            <a:off x="767080" y="1464193"/>
            <a:ext cx="1077098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Ensures that a specified number of pods are running at any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If there are excess pods, they get killed to came back to same number of pods.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Or if there is less (due to deletion or termination or host loss), then the pods will get created to match the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This is taken care with the help of “LABELS”</a:t>
            </a:r>
          </a:p>
        </p:txBody>
      </p:sp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 err="1"/>
              <a:t>ReplicaSet</a:t>
            </a:r>
            <a:r>
              <a:rPr lang="en-US" b="1" dirty="0"/>
              <a:t> vs Replication Controller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EBC98E-536F-415F-82B9-57549DFBD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047388"/>
              </p:ext>
            </p:extLst>
          </p:nvPr>
        </p:nvGraphicFramePr>
        <p:xfrm>
          <a:off x="651856" y="1338062"/>
          <a:ext cx="10288847" cy="5233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6826">
                  <a:extLst>
                    <a:ext uri="{9D8B030D-6E8A-4147-A177-3AD203B41FA5}">
                      <a16:colId xmlns:a16="http://schemas.microsoft.com/office/drawing/2014/main" val="931310850"/>
                    </a:ext>
                  </a:extLst>
                </a:gridCol>
                <a:gridCol w="5332021">
                  <a:extLst>
                    <a:ext uri="{9D8B030D-6E8A-4147-A177-3AD203B41FA5}">
                      <a16:colId xmlns:a16="http://schemas.microsoft.com/office/drawing/2014/main" val="992879940"/>
                    </a:ext>
                  </a:extLst>
                </a:gridCol>
              </a:tblGrid>
              <a:tr h="657873">
                <a:tc>
                  <a:txBody>
                    <a:bodyPr/>
                    <a:lstStyle/>
                    <a:p>
                      <a:r>
                        <a:rPr lang="en-US" sz="3600" b="1" dirty="0" err="1"/>
                        <a:t>ReplicaSet</a:t>
                      </a:r>
                      <a:endParaRPr lang="en-GB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b="1" dirty="0"/>
                        <a:t>Replication Controller</a:t>
                      </a:r>
                      <a:endParaRPr lang="en-GB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466839"/>
                  </a:ext>
                </a:extLst>
              </a:tr>
              <a:tr h="642084">
                <a:tc>
                  <a:txBody>
                    <a:bodyPr/>
                    <a:lstStyle/>
                    <a:p>
                      <a:r>
                        <a:rPr lang="en-US" sz="2800" dirty="0"/>
                        <a:t>Its next-Gen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Previous Generation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577905"/>
                  </a:ext>
                </a:extLst>
              </a:tr>
              <a:tr h="763458">
                <a:tc>
                  <a:txBody>
                    <a:bodyPr/>
                    <a:lstStyle/>
                    <a:p>
                      <a:r>
                        <a:rPr lang="en-US" sz="2800" dirty="0"/>
                        <a:t>This uses “Set-Based Selectors”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This uses “ Equality-based Selectors</a:t>
                      </a:r>
                      <a:endParaRPr lang="en-GB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131152"/>
                  </a:ext>
                </a:extLst>
              </a:tr>
              <a:tr h="4910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Operators used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in     notin  exists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Operators used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=   ==   !=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48121"/>
                  </a:ext>
                </a:extLst>
              </a:tr>
              <a:tr h="4910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selector: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2800" b="1" kern="1200" dirty="0" err="1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matchlabels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app: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nginx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tier: backend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selector: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app: 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nginx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      tier: backend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en-GB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715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24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A203-9C59-4C3A-B76C-9BDFC0C0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Labels &amp; Selectors</a:t>
            </a: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26018-6206-46CA-8283-ACBC7C5A9709}"/>
              </a:ext>
            </a:extLst>
          </p:cNvPr>
          <p:cNvSpPr txBox="1"/>
          <p:nvPr/>
        </p:nvSpPr>
        <p:spPr>
          <a:xfrm>
            <a:off x="710507" y="1489132"/>
            <a:ext cx="10770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Labels are key-value pair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1096A-F874-44E5-AE5E-F351D7EE81CE}"/>
              </a:ext>
            </a:extLst>
          </p:cNvPr>
          <p:cNvSpPr txBox="1"/>
          <p:nvPr/>
        </p:nvSpPr>
        <p:spPr>
          <a:xfrm>
            <a:off x="795647" y="2588821"/>
            <a:ext cx="270651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apiVersion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: v1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Kind: pod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Metadata: 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     name: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nginx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-pod</a:t>
            </a:r>
          </a:p>
          <a:p>
            <a:r>
              <a:rPr lang="en-US" sz="2400" dirty="0"/>
              <a:t>      labels:</a:t>
            </a:r>
          </a:p>
          <a:p>
            <a:r>
              <a:rPr lang="en-US" sz="2400" dirty="0"/>
              <a:t>          app: logic</a:t>
            </a:r>
          </a:p>
          <a:p>
            <a:r>
              <a:rPr lang="en-US" sz="2400" dirty="0"/>
              <a:t>          tier: backend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spec: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     replicas: 3 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B10486D-7A37-4C02-98DE-929FD5297212}"/>
              </a:ext>
            </a:extLst>
          </p:cNvPr>
          <p:cNvSpPr/>
          <p:nvPr/>
        </p:nvSpPr>
        <p:spPr>
          <a:xfrm>
            <a:off x="3705101" y="4144488"/>
            <a:ext cx="617517" cy="95002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53B56-A43C-412C-B4B1-01DD60CA8DB5}"/>
              </a:ext>
            </a:extLst>
          </p:cNvPr>
          <p:cNvSpPr txBox="1"/>
          <p:nvPr/>
        </p:nvSpPr>
        <p:spPr>
          <a:xfrm>
            <a:off x="4724401" y="4144488"/>
            <a:ext cx="4191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Using selectors we can refer to this label to map to this pod</a:t>
            </a:r>
          </a:p>
        </p:txBody>
      </p:sp>
    </p:spTree>
    <p:extLst>
      <p:ext uri="{BB962C8B-B14F-4D97-AF65-F5344CB8AC3E}">
        <p14:creationId xmlns:p14="http://schemas.microsoft.com/office/powerpoint/2010/main" val="104608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BB1C-47D6-4951-9FD3-F9E9093A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Equality-based Selectors with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0D40F-E657-4E1B-9CBB-7C770890A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594825"/>
            <a:ext cx="7263510" cy="497657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Operators: </a:t>
            </a:r>
            <a:r>
              <a:rPr lang="en-US" sz="2800" dirty="0">
                <a:sym typeface="Wingdings" panose="05000000000000000000" pitchFamily="2" charset="2"/>
              </a:rPr>
              <a:t>   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=    ==   !=</a:t>
            </a:r>
          </a:p>
          <a:p>
            <a:r>
              <a:rPr lang="en-US" sz="2800" dirty="0">
                <a:sym typeface="Wingdings" panose="05000000000000000000" pitchFamily="2" charset="2"/>
              </a:rPr>
              <a:t>Examples: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environment = production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tier != backend</a:t>
            </a:r>
          </a:p>
          <a:p>
            <a:r>
              <a:rPr lang="en-GB" sz="2800" dirty="0"/>
              <a:t>Command line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$ </a:t>
            </a:r>
            <a:r>
              <a:rPr lang="en-GB" sz="2800" dirty="0" err="1">
                <a:solidFill>
                  <a:srgbClr val="0070C0"/>
                </a:solidFill>
              </a:rPr>
              <a:t>kubectl</a:t>
            </a:r>
            <a:r>
              <a:rPr lang="en-GB" sz="2800" dirty="0">
                <a:solidFill>
                  <a:srgbClr val="0070C0"/>
                </a:solidFill>
              </a:rPr>
              <a:t>  get  pods  -l  environment=production</a:t>
            </a:r>
          </a:p>
          <a:p>
            <a:r>
              <a:rPr lang="en-GB" sz="2800" dirty="0"/>
              <a:t>In manifest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  <a:p>
            <a:pPr lvl="1"/>
            <a:r>
              <a:rPr lang="en-GB" sz="2800" dirty="0">
                <a:solidFill>
                  <a:srgbClr val="00B050"/>
                </a:solidFill>
              </a:rPr>
              <a:t>selector</a:t>
            </a:r>
            <a:r>
              <a:rPr lang="en-GB" sz="2800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environment: production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tier: backend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5BFDB-BC7F-4109-BBB2-27651393DEED}"/>
              </a:ext>
            </a:extLst>
          </p:cNvPr>
          <p:cNvSpPr txBox="1"/>
          <p:nvPr/>
        </p:nvSpPr>
        <p:spPr>
          <a:xfrm>
            <a:off x="7307966" y="4583875"/>
            <a:ext cx="41910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Supports: </a:t>
            </a:r>
          </a:p>
          <a:p>
            <a:r>
              <a:rPr lang="en-US" sz="2400" dirty="0"/>
              <a:t>Services, </a:t>
            </a:r>
          </a:p>
          <a:p>
            <a:r>
              <a:rPr lang="en-US" sz="2400" dirty="0"/>
              <a:t>Replication Controller</a:t>
            </a:r>
          </a:p>
        </p:txBody>
      </p:sp>
    </p:spTree>
    <p:extLst>
      <p:ext uri="{BB962C8B-B14F-4D97-AF65-F5344CB8AC3E}">
        <p14:creationId xmlns:p14="http://schemas.microsoft.com/office/powerpoint/2010/main" val="32536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BB1C-47D6-4951-9FD3-F9E9093A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Set-based Selectors with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0D40F-E657-4E1B-9CBB-7C770890A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7" y="1594825"/>
            <a:ext cx="10683603" cy="497657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Operators: </a:t>
            </a:r>
            <a:r>
              <a:rPr lang="en-US" sz="2800" dirty="0">
                <a:sym typeface="Wingdings" panose="05000000000000000000" pitchFamily="2" charset="2"/>
              </a:rPr>
              <a:t>   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in	notin	  exists</a:t>
            </a:r>
          </a:p>
          <a:p>
            <a:r>
              <a:rPr lang="en-US" sz="2800" dirty="0">
                <a:sym typeface="Wingdings" panose="05000000000000000000" pitchFamily="2" charset="2"/>
              </a:rPr>
              <a:t>Examples: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environment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 (production, staging)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tier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notin</a:t>
            </a:r>
            <a:r>
              <a:rPr lang="en-US" sz="2800" dirty="0">
                <a:solidFill>
                  <a:srgbClr val="0070C0"/>
                </a:solidFill>
                <a:sym typeface="Wingdings" panose="05000000000000000000" pitchFamily="2" charset="2"/>
              </a:rPr>
              <a:t> (backend)</a:t>
            </a:r>
          </a:p>
          <a:p>
            <a:r>
              <a:rPr lang="en-GB" sz="2800" dirty="0"/>
              <a:t>Command line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$ </a:t>
            </a:r>
            <a:r>
              <a:rPr lang="en-GB" sz="2800" dirty="0" err="1">
                <a:solidFill>
                  <a:srgbClr val="0070C0"/>
                </a:solidFill>
              </a:rPr>
              <a:t>kubectl</a:t>
            </a:r>
            <a:r>
              <a:rPr lang="en-GB" sz="2800" dirty="0">
                <a:solidFill>
                  <a:srgbClr val="0070C0"/>
                </a:solidFill>
              </a:rPr>
              <a:t>  get  pods  -l  environment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</a:t>
            </a:r>
            <a:r>
              <a:rPr lang="en-GB" sz="2800" dirty="0">
                <a:solidFill>
                  <a:srgbClr val="0070C0"/>
                </a:solidFill>
              </a:rPr>
              <a:t> (production)</a:t>
            </a:r>
          </a:p>
          <a:p>
            <a:r>
              <a:rPr lang="en-GB" sz="2800" dirty="0"/>
              <a:t>In manifest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  <a:p>
            <a:pPr lvl="1"/>
            <a:r>
              <a:rPr lang="en-GB" sz="2800" dirty="0">
                <a:solidFill>
                  <a:srgbClr val="00B050"/>
                </a:solidFill>
              </a:rPr>
              <a:t>selector</a:t>
            </a:r>
            <a:r>
              <a:rPr lang="en-GB" sz="2800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</a:t>
            </a:r>
            <a:r>
              <a:rPr lang="en-GB" sz="2800" dirty="0">
                <a:solidFill>
                  <a:srgbClr val="C00000"/>
                </a:solidFill>
              </a:rPr>
              <a:t>matchExpressions</a:t>
            </a:r>
            <a:r>
              <a:rPr lang="en-GB" sz="2800" dirty="0">
                <a:solidFill>
                  <a:srgbClr val="0070C0"/>
                </a:solidFill>
              </a:rPr>
              <a:t>: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- {key: 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environment</a:t>
            </a:r>
            <a:r>
              <a:rPr lang="en-GB" sz="2800" dirty="0">
                <a:solidFill>
                  <a:srgbClr val="0070C0"/>
                </a:solidFill>
              </a:rPr>
              <a:t>, operator: </a:t>
            </a:r>
            <a:r>
              <a:rPr lang="en-US" sz="2800" dirty="0">
                <a:solidFill>
                  <a:srgbClr val="0070C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in</a:t>
            </a:r>
            <a:r>
              <a:rPr lang="en-GB" sz="2800" dirty="0">
                <a:solidFill>
                  <a:srgbClr val="0070C0"/>
                </a:solidFill>
              </a:rPr>
              <a:t>, values: [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production</a:t>
            </a:r>
            <a:r>
              <a:rPr lang="en-GB" sz="2800" dirty="0">
                <a:solidFill>
                  <a:srgbClr val="0070C0"/>
                </a:solidFill>
              </a:rPr>
              <a:t>, 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staging</a:t>
            </a:r>
            <a:r>
              <a:rPr lang="en-GB" sz="2800" dirty="0">
                <a:solidFill>
                  <a:srgbClr val="0070C0"/>
                </a:solidFill>
              </a:rPr>
              <a:t>]}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    - {key: 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tier</a:t>
            </a:r>
            <a:r>
              <a:rPr lang="en-GB" sz="2800" dirty="0">
                <a:solidFill>
                  <a:srgbClr val="0070C0"/>
                </a:solidFill>
              </a:rPr>
              <a:t>, operator: </a:t>
            </a:r>
            <a:r>
              <a:rPr lang="en-GB" sz="2800" dirty="0" err="1">
                <a:solidFill>
                  <a:srgbClr val="0070C0"/>
                </a:solidFill>
                <a:highlight>
                  <a:srgbClr val="FFFF00"/>
                </a:highlight>
              </a:rPr>
              <a:t>notIn</a:t>
            </a:r>
            <a:r>
              <a:rPr lang="en-GB" sz="2800" dirty="0">
                <a:solidFill>
                  <a:srgbClr val="0070C0"/>
                </a:solidFill>
              </a:rPr>
              <a:t>, values: [</a:t>
            </a:r>
            <a:r>
              <a:rPr lang="en-GB" sz="2800" dirty="0">
                <a:solidFill>
                  <a:srgbClr val="0070C0"/>
                </a:solidFill>
                <a:highlight>
                  <a:srgbClr val="FFFF00"/>
                </a:highlight>
              </a:rPr>
              <a:t>backend</a:t>
            </a:r>
            <a:r>
              <a:rPr lang="en-GB" sz="2800" dirty="0">
                <a:solidFill>
                  <a:srgbClr val="0070C0"/>
                </a:solidFill>
              </a:rPr>
              <a:t>]</a:t>
            </a:r>
          </a:p>
          <a:p>
            <a:pPr lvl="1"/>
            <a:r>
              <a:rPr lang="en-GB" sz="2800" dirty="0">
                <a:solidFill>
                  <a:srgbClr val="0070C0"/>
                </a:solidFill>
              </a:rPr>
              <a:t>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101AE-488B-4AB0-9807-D67C0A256824}"/>
              </a:ext>
            </a:extLst>
          </p:cNvPr>
          <p:cNvSpPr txBox="1"/>
          <p:nvPr/>
        </p:nvSpPr>
        <p:spPr>
          <a:xfrm>
            <a:off x="8748609" y="1594825"/>
            <a:ext cx="27504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Supports: </a:t>
            </a:r>
          </a:p>
          <a:p>
            <a:r>
              <a:rPr lang="en-US" sz="2400" dirty="0"/>
              <a:t>Replica Set</a:t>
            </a:r>
          </a:p>
          <a:p>
            <a:r>
              <a:rPr lang="en-US" sz="2400" dirty="0"/>
              <a:t>Job</a:t>
            </a:r>
          </a:p>
          <a:p>
            <a:r>
              <a:rPr lang="en-US" sz="2400" dirty="0"/>
              <a:t>Deployment</a:t>
            </a:r>
          </a:p>
          <a:p>
            <a:r>
              <a:rPr lang="en-US" sz="2400" dirty="0"/>
              <a:t>Daemon Set</a:t>
            </a:r>
          </a:p>
        </p:txBody>
      </p:sp>
    </p:spTree>
    <p:extLst>
      <p:ext uri="{BB962C8B-B14F-4D97-AF65-F5344CB8AC3E}">
        <p14:creationId xmlns:p14="http://schemas.microsoft.com/office/powerpoint/2010/main" val="903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794C-06A6-4CED-81FA-618C66E6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75" y="938151"/>
            <a:ext cx="5747426" cy="5747656"/>
          </a:xfrm>
        </p:spPr>
        <p:txBody>
          <a:bodyPr>
            <a:norm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apiVersion: v1</a:t>
            </a:r>
          </a:p>
          <a:p>
            <a:r>
              <a:rPr lang="en-GB" dirty="0">
                <a:latin typeface="Lucida Console" panose="020B0609040504020204" pitchFamily="49" charset="0"/>
              </a:rPr>
              <a:t>kind: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metadata: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name: tomcat-</a:t>
            </a:r>
            <a:r>
              <a:rPr lang="en-GB" dirty="0" err="1">
                <a:latin typeface="Lucida Console" panose="020B0609040504020204" pitchFamily="49" charset="0"/>
              </a:rPr>
              <a:t>rs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spec:</a:t>
            </a:r>
          </a:p>
          <a:p>
            <a:r>
              <a:rPr lang="en-GB" dirty="0">
                <a:latin typeface="Lucida Console" panose="020B0609040504020204" pitchFamily="49" charset="0"/>
              </a:rPr>
              <a:t>  replicas: 3</a:t>
            </a:r>
          </a:p>
          <a:p>
            <a:r>
              <a:rPr lang="en-GB" dirty="0">
                <a:latin typeface="Lucida Console" panose="020B0609040504020204" pitchFamily="49" charset="0"/>
              </a:rPr>
              <a:t>  selector: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matchlabels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app: tomcat-app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matchExpressions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- {key: tier, operator: In, values: [frontend]}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642E6-07D9-44E7-AF38-A7DD8582A944}"/>
              </a:ext>
            </a:extLst>
          </p:cNvPr>
          <p:cNvSpPr/>
          <p:nvPr/>
        </p:nvSpPr>
        <p:spPr>
          <a:xfrm>
            <a:off x="6416634" y="2481944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Lucida Bright" panose="02040602050505020304" pitchFamily="18" charset="0"/>
              </a:rPr>
              <a:t> 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template: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metadata: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name: tomcat-pod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labels: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app: tomcat-app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tier: frontend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spec: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containers: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- name: tomcat-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image: tomcat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ports: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- 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containerPort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: 8080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144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794C-06A6-4CED-81FA-618C66E6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75" y="938151"/>
            <a:ext cx="5747426" cy="574765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apiVersion: v1</a:t>
            </a:r>
          </a:p>
          <a:p>
            <a:r>
              <a:rPr lang="en-GB" dirty="0">
                <a:latin typeface="Lucida Console" panose="020B0609040504020204" pitchFamily="49" charset="0"/>
              </a:rPr>
              <a:t>kind: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metadata: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name: tomcat-</a:t>
            </a:r>
            <a:r>
              <a:rPr lang="en-GB" dirty="0" err="1">
                <a:latin typeface="Lucida Console" panose="020B0609040504020204" pitchFamily="49" charset="0"/>
              </a:rPr>
              <a:t>rs</a:t>
            </a:r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>
                <a:latin typeface="Lucida Console" panose="020B0609040504020204" pitchFamily="49" charset="0"/>
              </a:rPr>
              <a:t>spec:</a:t>
            </a:r>
          </a:p>
          <a:p>
            <a:r>
              <a:rPr lang="en-GB" dirty="0">
                <a:latin typeface="Lucida Console" panose="020B0609040504020204" pitchFamily="49" charset="0"/>
              </a:rPr>
              <a:t>  replicas: 3</a:t>
            </a:r>
          </a:p>
          <a:p>
            <a:r>
              <a:rPr lang="en-GB" dirty="0">
                <a:latin typeface="Lucida Console" panose="020B0609040504020204" pitchFamily="49" charset="0"/>
              </a:rPr>
              <a:t> 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selector: 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matchlabels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app: tomcat-app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matchExpressions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   - {key: tier, operator: In, values: [frontend]}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B505160E-175C-48B3-9746-EE0E5CAB8DB6}"/>
              </a:ext>
            </a:extLst>
          </p:cNvPr>
          <p:cNvSpPr/>
          <p:nvPr/>
        </p:nvSpPr>
        <p:spPr>
          <a:xfrm>
            <a:off x="4126906" y="1324099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8D346-9603-4855-9D4A-30A99040EB61}"/>
              </a:ext>
            </a:extLst>
          </p:cNvPr>
          <p:cNvSpPr/>
          <p:nvPr/>
        </p:nvSpPr>
        <p:spPr>
          <a:xfrm>
            <a:off x="6473145" y="1324099"/>
            <a:ext cx="5623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Define the kind of Object as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3E664AD5-4077-4FFA-83A6-5BC8DD5DC266}"/>
              </a:ext>
            </a:extLst>
          </p:cNvPr>
          <p:cNvSpPr/>
          <p:nvPr/>
        </p:nvSpPr>
        <p:spPr>
          <a:xfrm>
            <a:off x="3873531" y="2183465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5B6DFE-CA35-45C3-8325-24974EF35551}"/>
              </a:ext>
            </a:extLst>
          </p:cNvPr>
          <p:cNvSpPr/>
          <p:nvPr/>
        </p:nvSpPr>
        <p:spPr>
          <a:xfrm>
            <a:off x="6219770" y="2183465"/>
            <a:ext cx="3392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Name for the </a:t>
            </a:r>
            <a:r>
              <a:rPr lang="en-GB" dirty="0" err="1">
                <a:latin typeface="Lucida Console" panose="020B0609040504020204" pitchFamily="49" charset="0"/>
              </a:rPr>
              <a:t>ReplicaSet</a:t>
            </a:r>
            <a:endParaRPr lang="en-GB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B1DF454E-6347-49DB-96E9-7435F767F71B}"/>
              </a:ext>
            </a:extLst>
          </p:cNvPr>
          <p:cNvSpPr/>
          <p:nvPr/>
        </p:nvSpPr>
        <p:spPr>
          <a:xfrm>
            <a:off x="3873531" y="2996527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0A4B5E-A302-4891-BF8D-E54EC0890DD2}"/>
              </a:ext>
            </a:extLst>
          </p:cNvPr>
          <p:cNvSpPr/>
          <p:nvPr/>
        </p:nvSpPr>
        <p:spPr>
          <a:xfrm>
            <a:off x="6219770" y="2996527"/>
            <a:ext cx="52052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Number of replicas of the POD needed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229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 animBg="1"/>
      <p:bldP spid="8" grpId="0"/>
      <p:bldP spid="9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794C-06A6-4CED-81FA-618C66E6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575" y="938151"/>
            <a:ext cx="8177908" cy="574765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apiVersion: v1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kind: 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ReplicaSet</a:t>
            </a:r>
            <a:endParaRPr lang="en-GB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metadata: 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name: tomcat-</a:t>
            </a:r>
            <a:r>
              <a:rPr lang="en-GB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rs</a:t>
            </a:r>
            <a:endParaRPr lang="en-GB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spec:</a:t>
            </a: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replicas: 3</a:t>
            </a:r>
          </a:p>
          <a:p>
            <a:r>
              <a:rPr lang="en-GB" dirty="0">
                <a:latin typeface="Lucida Console" panose="020B0609040504020204" pitchFamily="49" charset="0"/>
              </a:rPr>
              <a:t>  selector: 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matchlabels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app: tomcat-app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</a:t>
            </a:r>
            <a:r>
              <a:rPr lang="en-GB" dirty="0" err="1">
                <a:latin typeface="Lucida Console" panose="020B0609040504020204" pitchFamily="49" charset="0"/>
              </a:rPr>
              <a:t>matchExpressions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      - {key: tier, operator: In, values: [frontend]}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DD39EE0B-A6D0-443E-9EB1-CB7452098F82}"/>
              </a:ext>
            </a:extLst>
          </p:cNvPr>
          <p:cNvSpPr/>
          <p:nvPr/>
        </p:nvSpPr>
        <p:spPr>
          <a:xfrm>
            <a:off x="3992284" y="3538846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23F380-A6FA-405E-A2B4-B9BFDEA58AA9}"/>
              </a:ext>
            </a:extLst>
          </p:cNvPr>
          <p:cNvSpPr/>
          <p:nvPr/>
        </p:nvSpPr>
        <p:spPr>
          <a:xfrm>
            <a:off x="6338522" y="3538846"/>
            <a:ext cx="474115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This is to select the container that needs to be replicated.</a:t>
            </a:r>
          </a:p>
          <a:p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 err="1">
                <a:latin typeface="Lucida Console" panose="020B0609040504020204" pitchFamily="49" charset="0"/>
              </a:rPr>
              <a:t>MatchLabel</a:t>
            </a:r>
            <a:r>
              <a:rPr lang="en-GB" dirty="0">
                <a:latin typeface="Lucida Console" panose="020B0609040504020204" pitchFamily="49" charset="0"/>
              </a:rPr>
              <a:t> : match's the container custom label </a:t>
            </a:r>
          </a:p>
          <a:p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 err="1">
                <a:latin typeface="Lucida Console" panose="020B0609040504020204" pitchFamily="49" charset="0"/>
              </a:rPr>
              <a:t>MatchExpression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	It’s a list of pod </a:t>
            </a:r>
            <a:r>
              <a:rPr lang="en-GB">
                <a:latin typeface="Lucida Console" panose="020B0609040504020204" pitchFamily="49" charset="0"/>
              </a:rPr>
              <a:t>selector requirements.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957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B642E6-07D9-44E7-AF38-A7DD8582A944}"/>
              </a:ext>
            </a:extLst>
          </p:cNvPr>
          <p:cNvSpPr/>
          <p:nvPr/>
        </p:nvSpPr>
        <p:spPr>
          <a:xfrm>
            <a:off x="692958" y="1235035"/>
            <a:ext cx="540304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Lucida Bright" panose="02040602050505020304" pitchFamily="18" charset="0"/>
              </a:rPr>
              <a:t> 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template: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metadata: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name: tomcat-pod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labels: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app: tomcat-app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tier: frontend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spec: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containers: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- name: tomcat-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  <a:latin typeface="Lucida Console" panose="020B0609040504020204" pitchFamily="49" charset="0"/>
            </a:endParaRP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image: tomcat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ports:</a:t>
            </a:r>
          </a:p>
          <a:p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        - </a:t>
            </a:r>
            <a:r>
              <a:rPr lang="en-GB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containerPort</a:t>
            </a: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Lucida Console" panose="020B0609040504020204" pitchFamily="49" charset="0"/>
              </a:rPr>
              <a:t>: 8080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873E3-9CE9-46D3-AD76-EF54CE0E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734675"/>
          </a:xfrm>
        </p:spPr>
        <p:txBody>
          <a:bodyPr/>
          <a:lstStyle/>
          <a:p>
            <a:r>
              <a:rPr lang="en-US" dirty="0"/>
              <a:t>De-coding the YAML file</a:t>
            </a:r>
            <a:endParaRPr lang="en-GB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E164294B-6D4E-4DD3-8345-E088A1034994}"/>
              </a:ext>
            </a:extLst>
          </p:cNvPr>
          <p:cNvSpPr/>
          <p:nvPr/>
        </p:nvSpPr>
        <p:spPr>
          <a:xfrm>
            <a:off x="4574175" y="1527166"/>
            <a:ext cx="1595252" cy="41563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D49272-4717-481E-B890-3AA78FC6EB17}"/>
              </a:ext>
            </a:extLst>
          </p:cNvPr>
          <p:cNvSpPr/>
          <p:nvPr/>
        </p:nvSpPr>
        <p:spPr>
          <a:xfrm>
            <a:off x="6920413" y="1527166"/>
            <a:ext cx="47411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Lucida Console" panose="020B0609040504020204" pitchFamily="49" charset="0"/>
              </a:rPr>
              <a:t>This is to select the container that needs to be replicated.</a:t>
            </a:r>
          </a:p>
          <a:p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 err="1">
                <a:latin typeface="Lucida Console" panose="020B0609040504020204" pitchFamily="49" charset="0"/>
              </a:rPr>
              <a:t>MatchLabel</a:t>
            </a:r>
            <a:r>
              <a:rPr lang="en-GB" dirty="0">
                <a:latin typeface="Lucida Console" panose="020B0609040504020204" pitchFamily="49" charset="0"/>
              </a:rPr>
              <a:t> : match's the container custom label </a:t>
            </a:r>
          </a:p>
          <a:p>
            <a:endParaRPr lang="en-GB" dirty="0">
              <a:latin typeface="Lucida Console" panose="020B0609040504020204" pitchFamily="49" charset="0"/>
            </a:endParaRPr>
          </a:p>
          <a:p>
            <a:r>
              <a:rPr lang="en-GB" dirty="0" err="1">
                <a:latin typeface="Lucida Console" panose="020B0609040504020204" pitchFamily="49" charset="0"/>
              </a:rPr>
              <a:t>MatchExpression</a:t>
            </a:r>
            <a:r>
              <a:rPr lang="en-GB" dirty="0">
                <a:latin typeface="Lucida Console" panose="020B0609040504020204" pitchFamily="49" charset="0"/>
              </a:rPr>
              <a:t>:</a:t>
            </a:r>
          </a:p>
          <a:p>
            <a:r>
              <a:rPr lang="en-GB" dirty="0">
                <a:latin typeface="Lucida Console" panose="020B0609040504020204" pitchFamily="49" charset="0"/>
              </a:rPr>
              <a:t>	We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732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9841</TotalTime>
  <Words>693</Words>
  <Application>Microsoft Office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Rounded MT Bold</vt:lpstr>
      <vt:lpstr>Calibri</vt:lpstr>
      <vt:lpstr>Calibri Light</vt:lpstr>
      <vt:lpstr>Engravers MT</vt:lpstr>
      <vt:lpstr>Lucida Bright</vt:lpstr>
      <vt:lpstr>Lucida Console</vt:lpstr>
      <vt:lpstr>Office Theme</vt:lpstr>
      <vt:lpstr>Retrospect</vt:lpstr>
      <vt:lpstr>Kubernetes RelicaSet</vt:lpstr>
      <vt:lpstr>Agenda</vt:lpstr>
      <vt:lpstr>Kubernetes Working</vt:lpstr>
      <vt:lpstr>ReplicaSet</vt:lpstr>
      <vt:lpstr>ReplicaSet vs Replication Controller</vt:lpstr>
      <vt:lpstr>Labels &amp; Selectors</vt:lpstr>
      <vt:lpstr>Equality-based Selectors with example</vt:lpstr>
      <vt:lpstr>Set-based Selectors with example</vt:lpstr>
      <vt:lpstr>De-coding the YAML file</vt:lpstr>
      <vt:lpstr>De-coding the YAML file</vt:lpstr>
      <vt:lpstr>De-coding the YAML file</vt:lpstr>
      <vt:lpstr>De-coding the YAML file</vt:lpstr>
    </vt:vector>
  </TitlesOfParts>
  <Company>EMC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CodeDeploy</dc:title>
  <dc:creator>S, Vishwanath</dc:creator>
  <cp:lastModifiedBy>vishwanath.murthy@gmail.com</cp:lastModifiedBy>
  <cp:revision>70</cp:revision>
  <dcterms:created xsi:type="dcterms:W3CDTF">2018-07-27T15:06:26Z</dcterms:created>
  <dcterms:modified xsi:type="dcterms:W3CDTF">2020-05-31T18:00:33Z</dcterms:modified>
</cp:coreProperties>
</file>