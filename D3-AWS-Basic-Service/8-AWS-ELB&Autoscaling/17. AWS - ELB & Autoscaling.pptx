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6" r:id="rId4"/>
    <p:sldId id="266" r:id="rId5"/>
    <p:sldId id="285" r:id="rId6"/>
    <p:sldId id="258" r:id="rId7"/>
    <p:sldId id="257" r:id="rId8"/>
    <p:sldId id="282" r:id="rId9"/>
    <p:sldId id="265" r:id="rId10"/>
    <p:sldId id="260" r:id="rId11"/>
    <p:sldId id="259" r:id="rId12"/>
    <p:sldId id="279" r:id="rId13"/>
    <p:sldId id="283" r:id="rId14"/>
    <p:sldId id="284" r:id="rId15"/>
    <p:sldId id="263" r:id="rId16"/>
    <p:sldId id="278" r:id="rId17"/>
    <p:sldId id="277" r:id="rId18"/>
    <p:sldId id="261" r:id="rId19"/>
    <p:sldId id="281" r:id="rId20"/>
    <p:sldId id="274" r:id="rId21"/>
    <p:sldId id="275" r:id="rId22"/>
    <p:sldId id="264" r:id="rId23"/>
    <p:sldId id="269" r:id="rId24"/>
    <p:sldId id="270" r:id="rId25"/>
    <p:sldId id="273" r:id="rId26"/>
    <p:sldId id="27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6325B138-4389-4B94-80D4-EE900F4490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791" y="6028305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  <a:endParaRPr lang="en-US" dirty="0">
              <a:solidFill>
                <a:srgbClr val="FFFFFF">
                  <a:lumMod val="50000"/>
                </a:srgbClr>
              </a:solidFill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dirty="0"/>
              <a:t>AWS – ELB (Elastic Load Balancer) &amp; </a:t>
            </a:r>
            <a:r>
              <a:rPr lang="en-US" sz="5400" dirty="0" err="1"/>
              <a:t>AutoScaling</a:t>
            </a:r>
            <a:r>
              <a:rPr lang="en-US" sz="5400" dirty="0"/>
              <a:t> (AS)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dirty="0"/>
              <a:t>AWS – ELB (Elastic Load Balancer)</a:t>
            </a:r>
          </a:p>
        </p:txBody>
      </p:sp>
    </p:spTree>
    <p:extLst>
      <p:ext uri="{BB962C8B-B14F-4D97-AF65-F5344CB8AC3E}">
        <p14:creationId xmlns:p14="http://schemas.microsoft.com/office/powerpoint/2010/main" val="183831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7438" y="2158314"/>
            <a:ext cx="2100648" cy="10462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Application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Port No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1 to 65536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7438" y="3204520"/>
            <a:ext cx="2100648" cy="563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Transport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TCP/UDP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7438" y="3768007"/>
            <a:ext cx="2100648" cy="601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Network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IP address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7438" y="4369369"/>
            <a:ext cx="2100648" cy="601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Datalink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MAC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848" y="1675783"/>
            <a:ext cx="142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TCP/IP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221" y="2045115"/>
            <a:ext cx="7653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Balancer works on the Application layer and does per PORT load Balancing</a:t>
            </a:r>
          </a:p>
          <a:p>
            <a:endParaRPr lang="en-US" dirty="0"/>
          </a:p>
          <a:p>
            <a:r>
              <a:rPr lang="en-US" dirty="0"/>
              <a:t>Load Balancer provides HIGH AVAILABILITY ON APPLICATION LAYER </a:t>
            </a:r>
          </a:p>
        </p:txBody>
      </p:sp>
    </p:spTree>
    <p:extLst>
      <p:ext uri="{BB962C8B-B14F-4D97-AF65-F5344CB8AC3E}">
        <p14:creationId xmlns:p14="http://schemas.microsoft.com/office/powerpoint/2010/main" val="232072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Diagram for Internet Facing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2596444" y="1862667"/>
            <a:ext cx="1732488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1343378" y="2527141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1343378" y="3509197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196799" y="2630311"/>
            <a:ext cx="1040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Internet Traffic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1490463" y="4698413"/>
            <a:ext cx="125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Public IP &amp;</a:t>
            </a:r>
            <a:br>
              <a:rPr lang="en-IN" dirty="0"/>
            </a:br>
            <a:r>
              <a:rPr lang="en-IN" dirty="0"/>
              <a:t>Public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1786388" y="1424108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3975934" y="149333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100DC-6A73-4E15-BDE7-B736DFBC6763}"/>
              </a:ext>
            </a:extLst>
          </p:cNvPr>
          <p:cNvSpPr txBox="1"/>
          <p:nvPr/>
        </p:nvSpPr>
        <p:spPr>
          <a:xfrm>
            <a:off x="4096696" y="4679601"/>
            <a:ext cx="1401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from Subnet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2FF102-939A-4472-A54E-1D65A980DFBD}"/>
              </a:ext>
            </a:extLst>
          </p:cNvPr>
          <p:cNvSpPr/>
          <p:nvPr/>
        </p:nvSpPr>
        <p:spPr>
          <a:xfrm>
            <a:off x="5717894" y="1862667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170A9-62E3-441A-A819-5E36E640E433}"/>
              </a:ext>
            </a:extLst>
          </p:cNvPr>
          <p:cNvSpPr/>
          <p:nvPr/>
        </p:nvSpPr>
        <p:spPr>
          <a:xfrm>
            <a:off x="5717894" y="2908289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79A53E-7964-4B38-9C65-9D56029056BA}"/>
              </a:ext>
            </a:extLst>
          </p:cNvPr>
          <p:cNvSpPr/>
          <p:nvPr/>
        </p:nvSpPr>
        <p:spPr>
          <a:xfrm>
            <a:off x="5717894" y="4005908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VM03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D7977-AEEA-4390-B674-E25DC1E3CA6B}"/>
              </a:ext>
            </a:extLst>
          </p:cNvPr>
          <p:cNvSpPr/>
          <p:nvPr/>
        </p:nvSpPr>
        <p:spPr>
          <a:xfrm>
            <a:off x="4340507" y="2025572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33B7510-2182-4D84-AF9B-1025C29F81A6}"/>
              </a:ext>
            </a:extLst>
          </p:cNvPr>
          <p:cNvSpPr/>
          <p:nvPr/>
        </p:nvSpPr>
        <p:spPr>
          <a:xfrm>
            <a:off x="4340507" y="3092671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C4E28FD-5AB0-4CCA-BE6D-0295812264AE}"/>
              </a:ext>
            </a:extLst>
          </p:cNvPr>
          <p:cNvSpPr/>
          <p:nvPr/>
        </p:nvSpPr>
        <p:spPr>
          <a:xfrm>
            <a:off x="4340507" y="4178763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690C2-E4ED-4B73-8CD9-3924D1C6B27F}"/>
              </a:ext>
            </a:extLst>
          </p:cNvPr>
          <p:cNvSpPr txBox="1"/>
          <p:nvPr/>
        </p:nvSpPr>
        <p:spPr>
          <a:xfrm>
            <a:off x="5497975" y="1383694"/>
            <a:ext cx="229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Vishwacloudlab.com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B2D26-531F-4C4A-A339-C928A9C27983}"/>
              </a:ext>
            </a:extLst>
          </p:cNvPr>
          <p:cNvSpPr txBox="1"/>
          <p:nvPr/>
        </p:nvSpPr>
        <p:spPr>
          <a:xfrm>
            <a:off x="167390" y="3429000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- 90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C1B97-D4B5-4549-AD3D-538AE2085511}"/>
              </a:ext>
            </a:extLst>
          </p:cNvPr>
          <p:cNvSpPr txBox="1"/>
          <p:nvPr/>
        </p:nvSpPr>
        <p:spPr>
          <a:xfrm>
            <a:off x="5180014" y="339490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24BC3-E223-4CD2-8C5B-C62A119602F5}"/>
              </a:ext>
            </a:extLst>
          </p:cNvPr>
          <p:cNvSpPr txBox="1"/>
          <p:nvPr/>
        </p:nvSpPr>
        <p:spPr>
          <a:xfrm>
            <a:off x="5168439" y="235848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87119-6783-4626-950F-40F75967EBA5}"/>
              </a:ext>
            </a:extLst>
          </p:cNvPr>
          <p:cNvSpPr txBox="1"/>
          <p:nvPr/>
        </p:nvSpPr>
        <p:spPr>
          <a:xfrm>
            <a:off x="5161923" y="452979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</p:spTree>
    <p:extLst>
      <p:ext uri="{BB962C8B-B14F-4D97-AF65-F5344CB8AC3E}">
        <p14:creationId xmlns:p14="http://schemas.microsoft.com/office/powerpoint/2010/main" val="821795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of ELB (</a:t>
            </a:r>
            <a:r>
              <a:rPr lang="en-US" b="1" dirty="0" err="1"/>
              <a:t>ElasticLoadBalancer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7080" y="1206499"/>
            <a:ext cx="107709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options 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Application Load Balancer -- ALB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Load Balancer      -- NLB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AWS Classic Load Balancer-- CLB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Application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To perform LB on HTTP and HTTPS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To perform LB on any TCP 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AWS Classic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Previous Generation </a:t>
            </a:r>
            <a:r>
              <a:rPr lang="en-US" sz="2400" dirty="0">
                <a:sym typeface="Wingdings" panose="05000000000000000000" pitchFamily="2" charset="2"/>
              </a:rPr>
              <a:t> HTTP, HTTPS and TCP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545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/>
              <a:t>Concepts of ELB (</a:t>
            </a:r>
            <a:r>
              <a:rPr lang="en-US" b="1" dirty="0" err="1"/>
              <a:t>ElasticLoadBalancer</a:t>
            </a:r>
            <a:r>
              <a:rPr lang="en-US" b="1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206499"/>
            <a:ext cx="107709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LoadBalancer</a:t>
            </a:r>
            <a:r>
              <a:rPr lang="en-US" sz="2400" dirty="0"/>
              <a:t> is used to share the Load, so that we DON’T have a single point </a:t>
            </a:r>
            <a:r>
              <a:rPr lang="en-US" sz="2400"/>
              <a:t>of failure for the service.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AWS </a:t>
            </a:r>
            <a:r>
              <a:rPr lang="en-US" sz="2400" dirty="0" err="1"/>
              <a:t>LoadBalancer</a:t>
            </a:r>
            <a:r>
              <a:rPr lang="en-US" sz="2400" dirty="0"/>
              <a:t> has 2 Parts in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Load Balancers – To configure the Front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Target Groups   -- To configure the Back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can also work on IPV6 public IP but only </a:t>
            </a:r>
          </a:p>
          <a:p>
            <a:r>
              <a:rPr lang="en-US" sz="2400" dirty="0"/>
              <a:t>In “Application LB”.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is a request Forwarder and does not </a:t>
            </a:r>
          </a:p>
          <a:p>
            <a:r>
              <a:rPr lang="en-US" sz="2400" dirty="0"/>
              <a:t>Acknowledge to the request itself to the end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works WITHIN the VPC.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2" descr="Image result for aws ELB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587" y="1986385"/>
            <a:ext cx="3248478" cy="305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9098-694E-4A49-9893-877D7DC1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74689"/>
          </a:xfrm>
        </p:spPr>
        <p:txBody>
          <a:bodyPr>
            <a:normAutofit fontScale="90000"/>
          </a:bodyPr>
          <a:lstStyle/>
          <a:p>
            <a:r>
              <a:rPr lang="en-IN" dirty="0"/>
              <a:t>Diff B/w  ALB vs ELB vs CLB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A3604B0-E3FF-43DA-A93E-2D005AEA4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83949"/>
              </p:ext>
            </p:extLst>
          </p:nvPr>
        </p:nvGraphicFramePr>
        <p:xfrm>
          <a:off x="792994" y="961292"/>
          <a:ext cx="10606012" cy="5197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478">
                  <a:extLst>
                    <a:ext uri="{9D8B030D-6E8A-4147-A177-3AD203B41FA5}">
                      <a16:colId xmlns:a16="http://schemas.microsoft.com/office/drawing/2014/main" val="3444878520"/>
                    </a:ext>
                  </a:extLst>
                </a:gridCol>
                <a:gridCol w="2440925">
                  <a:extLst>
                    <a:ext uri="{9D8B030D-6E8A-4147-A177-3AD203B41FA5}">
                      <a16:colId xmlns:a16="http://schemas.microsoft.com/office/drawing/2014/main" val="542893331"/>
                    </a:ext>
                  </a:extLst>
                </a:gridCol>
                <a:gridCol w="2089259">
                  <a:extLst>
                    <a:ext uri="{9D8B030D-6E8A-4147-A177-3AD203B41FA5}">
                      <a16:colId xmlns:a16="http://schemas.microsoft.com/office/drawing/2014/main" val="2340241780"/>
                    </a:ext>
                  </a:extLst>
                </a:gridCol>
                <a:gridCol w="2765350">
                  <a:extLst>
                    <a:ext uri="{9D8B030D-6E8A-4147-A177-3AD203B41FA5}">
                      <a16:colId xmlns:a16="http://schemas.microsoft.com/office/drawing/2014/main" val="887524364"/>
                    </a:ext>
                  </a:extLst>
                </a:gridCol>
              </a:tblGrid>
              <a:tr h="684806"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Application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Network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Classic Load Balancer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123648"/>
                  </a:ext>
                </a:extLst>
              </a:tr>
              <a:tr h="517486">
                <a:tc>
                  <a:txBody>
                    <a:bodyPr/>
                    <a:lstStyle/>
                    <a:p>
                      <a:r>
                        <a:rPr lang="en-IN" sz="2000" dirty="0" err="1"/>
                        <a:t>Cloudwatch</a:t>
                      </a:r>
                      <a:r>
                        <a:rPr lang="en-IN" sz="2000" dirty="0"/>
                        <a:t>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77165"/>
                  </a:ext>
                </a:extLst>
              </a:tr>
              <a:tr h="684806">
                <a:tc>
                  <a:txBody>
                    <a:bodyPr/>
                    <a:lstStyle/>
                    <a:p>
                      <a:r>
                        <a:rPr lang="en-IN" sz="2000" dirty="0"/>
                        <a:t>Load Balancing to multiple port on the same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13817"/>
                  </a:ext>
                </a:extLst>
              </a:tr>
              <a:tr h="684806">
                <a:tc>
                  <a:txBody>
                    <a:bodyPr/>
                    <a:lstStyle/>
                    <a:p>
                      <a:r>
                        <a:rPr lang="en-IN" sz="2000" dirty="0"/>
                        <a:t>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HTTP, 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TCP, 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TCP, SSL/TLS, HTTP, HTTPS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34368"/>
                  </a:ext>
                </a:extLst>
              </a:tr>
              <a:tr h="508782">
                <a:tc>
                  <a:txBody>
                    <a:bodyPr/>
                    <a:lstStyle/>
                    <a:p>
                      <a:r>
                        <a:rPr lang="en-IN" sz="2000" dirty="0"/>
                        <a:t>IP addresses as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99314"/>
                  </a:ext>
                </a:extLst>
              </a:tr>
              <a:tr h="468923">
                <a:tc>
                  <a:txBody>
                    <a:bodyPr/>
                    <a:lstStyle/>
                    <a:p>
                      <a:r>
                        <a:rPr lang="en-IN" sz="2000" dirty="0"/>
                        <a:t>Path-based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958931"/>
                  </a:ext>
                </a:extLst>
              </a:tr>
              <a:tr h="433754">
                <a:tc>
                  <a:txBody>
                    <a:bodyPr/>
                    <a:lstStyle/>
                    <a:p>
                      <a:r>
                        <a:rPr lang="en-IN" sz="2000" dirty="0"/>
                        <a:t>Sticky-Session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572153"/>
                  </a:ext>
                </a:extLst>
              </a:tr>
              <a:tr h="480646">
                <a:tc>
                  <a:txBody>
                    <a:bodyPr/>
                    <a:lstStyle/>
                    <a:p>
                      <a:r>
                        <a:rPr lang="en-IN" sz="2000" dirty="0"/>
                        <a:t>Back-end server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23176"/>
                  </a:ext>
                </a:extLst>
              </a:tr>
              <a:tr h="684806">
                <a:tc>
                  <a:txBody>
                    <a:bodyPr/>
                    <a:lstStyle/>
                    <a:p>
                      <a:r>
                        <a:rPr lang="en-IN" sz="2000" dirty="0"/>
                        <a:t>Static IP &amp; Elastic 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40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25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 Load Balancer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Pre-requisite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We need to have minimum of 2 Subnets and these 2 subnets should be in 2 different Availability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  Configuration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Only 1 subnet can be selected in an Availability Zone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Also supports Ipv6 on the </a:t>
            </a:r>
            <a:r>
              <a:rPr lang="en-US" sz="2400" dirty="0" err="1"/>
              <a:t>FrontENd</a:t>
            </a:r>
            <a:r>
              <a:rPr lang="en-US" sz="2400" dirty="0"/>
              <a:t> of </a:t>
            </a:r>
            <a:r>
              <a:rPr lang="en-US" sz="2400" dirty="0" err="1"/>
              <a:t>Loadbalancer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769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Load Balancer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4 Sub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Sub-Step1: Configure Load Balancer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Sub-Step2: Security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Sub-Step3: Configure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Sub-Step4: Register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903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Step1: Load Balancer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Configuration has 2 sub parts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Front End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Whether the LB has to “internet Facing” Or “Internal” facing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The Front  End Public IP is created Automatically for “Application LB”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We have a option to assign an Static Public </a:t>
            </a:r>
            <a:r>
              <a:rPr lang="en-US" sz="2400" dirty="0" err="1"/>
              <a:t>Ip</a:t>
            </a:r>
            <a:r>
              <a:rPr lang="en-US" sz="2400" dirty="0"/>
              <a:t> (</a:t>
            </a:r>
            <a:r>
              <a:rPr lang="en-US" sz="2400" dirty="0" err="1"/>
              <a:t>ElasticIP</a:t>
            </a:r>
            <a:r>
              <a:rPr lang="en-US" sz="2400" dirty="0"/>
              <a:t>) for “Network LB”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Back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For Application LB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to add a VPC that has a min of 2 Subnets in 2 Different Availability Zone.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For Network LB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We can have a min of 1 Subnet in the backend.</a:t>
            </a:r>
          </a:p>
        </p:txBody>
      </p:sp>
    </p:spTree>
    <p:extLst>
      <p:ext uri="{BB962C8B-B14F-4D97-AF65-F5344CB8AC3E}">
        <p14:creationId xmlns:p14="http://schemas.microsoft.com/office/powerpoint/2010/main" val="346008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Step2: Security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Since LB is an individual feature, we need to specify what traffic can come in.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Security Group option is available only in “Application LB” and NOT in “Network LB”.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8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Step3: Configure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This is configured to monitor the Backend port of the Load balancer, that is the webserver port running on the EC2 instance.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Health Check configured to monitor even the path of the webserver file.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45795-F21F-4B76-AB3E-582F85F2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3323372"/>
            <a:ext cx="78867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5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Step4: Register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We can register the EC2 instance at any point of time.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We can also register the same EC2 instance, multiple times on different ports.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767FB-5DEA-4185-8199-B5632D43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51" y="2895440"/>
            <a:ext cx="77057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1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After the Creation of LB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958" y="1547721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There is an Automatic “DNS” name created by AWS, also called as “A Record” for IPV4 or “AAAA Record” for IPv6.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For “Application LB” the IPV4 and IPV6 address is automatically assigned.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In case of “Network LB”, we have an option to use an Elastic IP for the LB DNS name.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507492" indent="-342900">
              <a:buFont typeface="Arial" panose="020B0604020202020204" pitchFamily="34" charset="0"/>
              <a:buChar char="•"/>
            </a:pP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3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1D04-B085-4CC4-A474-D05054B6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Load Balancer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51369-1F00-4396-AC2A-98ED76BFA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250" y="1255043"/>
            <a:ext cx="9030314" cy="53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2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b="1" dirty="0"/>
              <a:t>AWS – </a:t>
            </a:r>
            <a:r>
              <a:rPr lang="en-US" sz="5400" b="1" dirty="0" err="1"/>
              <a:t>AutoScaling</a:t>
            </a:r>
            <a:r>
              <a:rPr lang="en-US" sz="5400" b="1" dirty="0"/>
              <a:t> (AS)</a:t>
            </a:r>
          </a:p>
        </p:txBody>
      </p:sp>
    </p:spTree>
    <p:extLst>
      <p:ext uri="{BB962C8B-B14F-4D97-AF65-F5344CB8AC3E}">
        <p14:creationId xmlns:p14="http://schemas.microsoft.com/office/powerpoint/2010/main" val="3577292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AutoScaling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It can Scale Out and Scale in of Virtual Machine (EC2 instances)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During Scale In, the VM’s are deleted in FIFO Manner (First in First Out)</a:t>
            </a:r>
          </a:p>
        </p:txBody>
      </p:sp>
    </p:spTree>
    <p:extLst>
      <p:ext uri="{BB962C8B-B14F-4D97-AF65-F5344CB8AC3E}">
        <p14:creationId xmlns:p14="http://schemas.microsoft.com/office/powerpoint/2010/main" val="3025539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E7CC-6B33-40B5-82CC-47F2067E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Conditions available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E2795-6E9F-4164-8688-83302FD46E82}"/>
              </a:ext>
            </a:extLst>
          </p:cNvPr>
          <p:cNvSpPr txBox="1"/>
          <p:nvPr/>
        </p:nvSpPr>
        <p:spPr>
          <a:xfrm>
            <a:off x="767080" y="1206499"/>
            <a:ext cx="107709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CPU Utilization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Network IN/OUT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Disk 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Disk write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1007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F5C1-765C-4C8B-A6D8-00E7C067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 Out Flow</a:t>
            </a:r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0E4547E-F175-4F35-A1E1-75BD9E3C4682}"/>
              </a:ext>
            </a:extLst>
          </p:cNvPr>
          <p:cNvSpPr/>
          <p:nvPr/>
        </p:nvSpPr>
        <p:spPr>
          <a:xfrm>
            <a:off x="2536092" y="1316589"/>
            <a:ext cx="6908800" cy="5418667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EE9A85-8BA0-422F-BF82-C717ECED9473}"/>
              </a:ext>
            </a:extLst>
          </p:cNvPr>
          <p:cNvSpPr/>
          <p:nvPr/>
        </p:nvSpPr>
        <p:spPr>
          <a:xfrm>
            <a:off x="1927361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4E0300-F478-4FB9-BDB3-85B427B829F2}"/>
              </a:ext>
            </a:extLst>
          </p:cNvPr>
          <p:cNvSpPr/>
          <p:nvPr/>
        </p:nvSpPr>
        <p:spPr>
          <a:xfrm>
            <a:off x="4755839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ACA1C4-24AA-450D-B3D4-F67B353C1F1A}"/>
              </a:ext>
            </a:extLst>
          </p:cNvPr>
          <p:cNvSpPr/>
          <p:nvPr/>
        </p:nvSpPr>
        <p:spPr>
          <a:xfrm>
            <a:off x="7584318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E2E9FF-CA10-4965-883D-29E208B8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316588"/>
            <a:ext cx="5403042" cy="13506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If the Avg CPU utilization is Above 40% add one instance</a:t>
            </a:r>
            <a:endParaRPr lang="en-US" sz="2800" dirty="0"/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315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F5C1-765C-4C8B-A6D8-00E7C067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 IN Flow</a:t>
            </a:r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0E4547E-F175-4F35-A1E1-75BD9E3C4682}"/>
              </a:ext>
            </a:extLst>
          </p:cNvPr>
          <p:cNvSpPr/>
          <p:nvPr/>
        </p:nvSpPr>
        <p:spPr>
          <a:xfrm>
            <a:off x="2536092" y="1316589"/>
            <a:ext cx="6908800" cy="5418667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EE9A85-8BA0-422F-BF82-C717ECED9473}"/>
              </a:ext>
            </a:extLst>
          </p:cNvPr>
          <p:cNvSpPr/>
          <p:nvPr/>
        </p:nvSpPr>
        <p:spPr>
          <a:xfrm>
            <a:off x="1927361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4E0300-F478-4FB9-BDB3-85B427B829F2}"/>
              </a:ext>
            </a:extLst>
          </p:cNvPr>
          <p:cNvSpPr/>
          <p:nvPr/>
        </p:nvSpPr>
        <p:spPr>
          <a:xfrm>
            <a:off x="4755839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ACA1C4-24AA-450D-B3D4-F67B353C1F1A}"/>
              </a:ext>
            </a:extLst>
          </p:cNvPr>
          <p:cNvSpPr/>
          <p:nvPr/>
        </p:nvSpPr>
        <p:spPr>
          <a:xfrm>
            <a:off x="7584318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E2E9FF-CA10-4965-883D-29E208B8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316588"/>
            <a:ext cx="5403042" cy="135062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If the Avg CPU utilization is Below 20% Delete one instance</a:t>
            </a:r>
            <a:endParaRPr lang="en-US" sz="2800" dirty="0"/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1910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Autoscaling</a:t>
            </a:r>
            <a:r>
              <a:rPr lang="en-US" b="1" dirty="0"/>
              <a:t>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2 Parts in it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3600" dirty="0"/>
              <a:t>Launch Configuration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3600" dirty="0" err="1"/>
              <a:t>Autoscaling</a:t>
            </a:r>
            <a:r>
              <a:rPr lang="en-US" sz="3600" dirty="0"/>
              <a:t> Group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75418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 Scaling Launch Configuration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sz="2800" b="1" dirty="0"/>
              <a:t>Options Configured for an EC2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AMI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Instance type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Launch </a:t>
            </a:r>
            <a:r>
              <a:rPr lang="en-IN" sz="2800" dirty="0" err="1"/>
              <a:t>Config</a:t>
            </a:r>
            <a:r>
              <a:rPr lang="en-IN" sz="2800" dirty="0"/>
              <a:t> name with Advance Details</a:t>
            </a:r>
          </a:p>
          <a:p>
            <a:pPr lvl="1">
              <a:buFont typeface="Arial" pitchFamily="34" charset="0"/>
              <a:buChar char="•"/>
            </a:pPr>
            <a:r>
              <a:rPr lang="en-IN" sz="2400" dirty="0"/>
              <a:t>Specify whether IPV4 public is required are not on each EC2 instance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Disks/Volume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Security Group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/>
              <a:t>KEYS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Autoscaling</a:t>
            </a:r>
            <a:r>
              <a:rPr lang="en-IN" b="1" dirty="0"/>
              <a:t> Group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IN" sz="3200" dirty="0"/>
              <a:t>Configure </a:t>
            </a:r>
            <a:r>
              <a:rPr lang="en-IN" sz="3200" dirty="0" err="1"/>
              <a:t>Autoscaling</a:t>
            </a:r>
            <a:r>
              <a:rPr lang="en-IN" sz="3200" dirty="0"/>
              <a:t> Group Details</a:t>
            </a:r>
            <a:endParaRPr lang="en-US" sz="3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Autoscaling</a:t>
            </a:r>
            <a:r>
              <a:rPr lang="en-US" sz="2800" dirty="0"/>
              <a:t> Group Name.</a:t>
            </a:r>
          </a:p>
          <a:p>
            <a:pPr marL="98298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Initial Size of the Group</a:t>
            </a:r>
          </a:p>
          <a:p>
            <a:pPr marL="982980" lvl="2" indent="-342900">
              <a:buFont typeface="Arial" panose="020B0604020202020204" pitchFamily="34" charset="0"/>
              <a:buChar char="•"/>
            </a:pPr>
            <a:r>
              <a:rPr lang="en-IN" sz="2000" dirty="0"/>
              <a:t>Network /Subnets ( Select the same VPC that was selected for the SG in the Launch Configuration)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800" dirty="0"/>
              <a:t>Under the </a:t>
            </a:r>
            <a:r>
              <a:rPr lang="en-IN" sz="2800" b="1" dirty="0"/>
              <a:t>Advance </a:t>
            </a:r>
            <a:r>
              <a:rPr lang="en-IN" sz="2800" b="1" dirty="0" err="1"/>
              <a:t>Config</a:t>
            </a:r>
            <a:endParaRPr lang="en-IN" sz="2800" b="1" dirty="0"/>
          </a:p>
          <a:p>
            <a:pPr marL="982980" lvl="2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Instance Scale IN Protection – This would protect all the scaled EC2 instance from SCALE IN. Means NO SCALE IN will happen.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IN" sz="3200" dirty="0"/>
              <a:t>Scaling Policy</a:t>
            </a:r>
          </a:p>
          <a:p>
            <a:endParaRPr lang="en-US" sz="3200" dirty="0"/>
          </a:p>
          <a:p>
            <a:pPr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Deleting VM’s in </a:t>
            </a:r>
            <a:r>
              <a:rPr lang="en-IN" b="1" dirty="0" err="1"/>
              <a:t>Autoscaling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If you delete all the VM’s in the </a:t>
            </a:r>
            <a:r>
              <a:rPr lang="en-IN" sz="2800" dirty="0" err="1"/>
              <a:t>Autoscaling</a:t>
            </a:r>
            <a:r>
              <a:rPr lang="en-IN" sz="2800" dirty="0"/>
              <a:t>, </a:t>
            </a:r>
            <a:r>
              <a:rPr lang="en-IN" sz="2800" dirty="0" err="1"/>
              <a:t>Autoscale</a:t>
            </a:r>
            <a:r>
              <a:rPr lang="en-IN" sz="2800" dirty="0"/>
              <a:t> would create the min VM’s as per the configuration again.</a:t>
            </a:r>
          </a:p>
          <a:p>
            <a:endParaRPr lang="en-IN" sz="2800" dirty="0"/>
          </a:p>
          <a:p>
            <a:r>
              <a:rPr lang="en-IN" sz="2800" dirty="0"/>
              <a:t>If you want to delete all the VM’s in the </a:t>
            </a:r>
            <a:r>
              <a:rPr lang="en-IN" sz="2800" dirty="0" err="1"/>
              <a:t>Autoscale</a:t>
            </a:r>
            <a:r>
              <a:rPr lang="en-IN" sz="2800" dirty="0"/>
              <a:t>, then DELETE the AUTOSCALE GROUP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Autoscaling</a:t>
            </a:r>
            <a:r>
              <a:rPr lang="en-IN" b="1" dirty="0"/>
              <a:t> Use Case: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Scaling Website’s within the same Availability Zone</a:t>
            </a:r>
          </a:p>
          <a:p>
            <a:endParaRPr lang="en-US" sz="2800" dirty="0"/>
          </a:p>
          <a:p>
            <a:r>
              <a:rPr lang="en-US" sz="2800" dirty="0"/>
              <a:t>Automatically scale the Website across Availability Zone.</a:t>
            </a:r>
          </a:p>
          <a:p>
            <a:endParaRPr lang="en-US" sz="2800" dirty="0"/>
          </a:p>
          <a:p>
            <a:r>
              <a:rPr lang="en-US" sz="2800" dirty="0"/>
              <a:t>Note: -- Autoscaling CANNOT be across 2 VPC’s or </a:t>
            </a:r>
            <a:r>
              <a:rPr lang="en-US" sz="2800"/>
              <a:t>2 regions.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6891</TotalTime>
  <Words>963</Words>
  <Application>Microsoft Office PowerPoint</Application>
  <PresentationFormat>Widescreen</PresentationFormat>
  <Paragraphs>188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Rounded MT Bold</vt:lpstr>
      <vt:lpstr>Calibri</vt:lpstr>
      <vt:lpstr>Calibri Light</vt:lpstr>
      <vt:lpstr>Engravers MT</vt:lpstr>
      <vt:lpstr>Office Theme</vt:lpstr>
      <vt:lpstr>Retrospect</vt:lpstr>
      <vt:lpstr>AWS – ELB (Elastic Load Balancer) &amp; AutoScaling (AS)</vt:lpstr>
      <vt:lpstr>AWS – ELB (Elastic Load Balancer)</vt:lpstr>
      <vt:lpstr>TCP/IP Layer</vt:lpstr>
      <vt:lpstr>Scenario Diagram for Internet Facing</vt:lpstr>
      <vt:lpstr>Concepts of ELB (ElasticLoadBalancer)</vt:lpstr>
      <vt:lpstr>Concepts of ELB (ElasticLoadBalancer)</vt:lpstr>
      <vt:lpstr>Diff B/w  ALB vs ELB vs CLB</vt:lpstr>
      <vt:lpstr>Application Load Balancer</vt:lpstr>
      <vt:lpstr>Create Load Balancer</vt:lpstr>
      <vt:lpstr>Step1: Load Balancer Configuration</vt:lpstr>
      <vt:lpstr>Step2: Security Group</vt:lpstr>
      <vt:lpstr>Step3: Configure Routing</vt:lpstr>
      <vt:lpstr>Step4: Register targets</vt:lpstr>
      <vt:lpstr>After the Creation of LB</vt:lpstr>
      <vt:lpstr>Network Load Balancer</vt:lpstr>
      <vt:lpstr>AWS – AutoScaling (AS)</vt:lpstr>
      <vt:lpstr>AutoScaling</vt:lpstr>
      <vt:lpstr>Conditions available</vt:lpstr>
      <vt:lpstr>Scale Out Flow</vt:lpstr>
      <vt:lpstr>Scale IN Flow</vt:lpstr>
      <vt:lpstr>Autoscaling Creation</vt:lpstr>
      <vt:lpstr>Auto Scaling Launch Configuration</vt:lpstr>
      <vt:lpstr>Autoscaling Group</vt:lpstr>
      <vt:lpstr>Deleting VM’s in Autoscaling</vt:lpstr>
      <vt:lpstr>Autoscaling Use Case: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Vishwa M S</cp:lastModifiedBy>
  <cp:revision>90</cp:revision>
  <dcterms:created xsi:type="dcterms:W3CDTF">2018-07-27T15:06:26Z</dcterms:created>
  <dcterms:modified xsi:type="dcterms:W3CDTF">2023-11-05T13:23:21Z</dcterms:modified>
</cp:coreProperties>
</file>